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9" r:id="rId3"/>
    <p:sldId id="260" r:id="rId4"/>
    <p:sldId id="265" r:id="rId5"/>
    <p:sldId id="258" r:id="rId6"/>
    <p:sldId id="257" r:id="rId7"/>
    <p:sldId id="266" r:id="rId8"/>
    <p:sldId id="262" r:id="rId9"/>
    <p:sldId id="261" r:id="rId10"/>
    <p:sldId id="264" r:id="rId11"/>
    <p:sldId id="26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146" d="100"/>
          <a:sy n="146" d="100"/>
        </p:scale>
        <p:origin x="80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6BE9A5-D080-48ED-AC6A-53988EC49DB1}" type="datetimeFigureOut">
              <a:rPr lang="en-SG" smtClean="0"/>
              <a:t>5/8/2024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C43FA3-6DDF-4E28-B832-D4392808949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41304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Sample 99, frame 46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C43FA3-6DDF-4E28-B832-D4392808949C}" type="slidenum">
              <a:rPr lang="en-SG" smtClean="0"/>
              <a:t>7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173228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Sample 99, frame 14 (top) and 21 (bottom)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C43FA3-6DDF-4E28-B832-D4392808949C}" type="slidenum">
              <a:rPr lang="en-SG" smtClean="0"/>
              <a:t>8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398732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Sample 99 frame 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C43FA3-6DDF-4E28-B832-D4392808949C}" type="slidenum">
              <a:rPr lang="en-SG" smtClean="0"/>
              <a:t>9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026958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Sample 99, frame 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C43FA3-6DDF-4E28-B832-D4392808949C}" type="slidenum">
              <a:rPr lang="en-SG" smtClean="0"/>
              <a:t>10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364202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Sample 99, frame 50 (top) and 42 (bottom)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C43FA3-6DDF-4E28-B832-D4392808949C}" type="slidenum">
              <a:rPr lang="en-SG" smtClean="0"/>
              <a:t>11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057122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1F24B-024F-DCF0-B53F-07B9D39F0A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797BDB-DFDF-73EB-84EC-1F9AECC593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12138B-8C90-3687-8DD0-88E2B98F6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D85DF-51B9-4430-BFB1-00059058A661}" type="datetimeFigureOut">
              <a:rPr lang="en-SG" smtClean="0"/>
              <a:t>5/8/2024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D798E5-3EFF-7176-F6AA-8CE664E7F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F78575-3926-E6A1-759E-9E5140DE1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EA2E9-5361-4D64-913A-9AB8C715C19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13909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79603-9F2B-1C8A-BE69-FB66E48FA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250F97-E8B6-CC32-2DE4-D09C18003F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19927D-EC46-399D-9E59-AB38E161A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D85DF-51B9-4430-BFB1-00059058A661}" type="datetimeFigureOut">
              <a:rPr lang="en-SG" smtClean="0"/>
              <a:t>5/8/2024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2BED9C-94E2-DA17-8144-9FAE0C2C4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941D59-D644-D3BC-D774-3951E524A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EA2E9-5361-4D64-913A-9AB8C715C19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60443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89204-5703-EAA3-C92F-7CE27EF9A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F54A1F-6ED0-2312-091F-EC54EFA007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7D5110-5D4D-3559-0A92-187E6CE39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D85DF-51B9-4430-BFB1-00059058A661}" type="datetimeFigureOut">
              <a:rPr lang="en-SG" smtClean="0"/>
              <a:t>5/8/2024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60CFB8-13AB-431A-0CCA-5EEF66C85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C7EC50-E5C9-F90A-FB35-3863F307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EA2E9-5361-4D64-913A-9AB8C715C19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75604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12996-76D2-7376-352A-23884C778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5AC799-6F26-F462-6290-EE9DB83DE4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477670-644F-8241-DD1E-92A94706C1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EF8B59-BC78-9C51-451B-32C6EF99B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D85DF-51B9-4430-BFB1-00059058A661}" type="datetimeFigureOut">
              <a:rPr lang="en-SG" smtClean="0"/>
              <a:t>5/8/2024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C4698D-F5AF-8F46-32D2-35F278314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3E09C6-C05E-689C-77DA-C3A1C374E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EA2E9-5361-4D64-913A-9AB8C715C19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13010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D9F9B-6464-A850-BA63-FB90BC5D9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04571E-E4EB-1F55-94C1-EED2A546AF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07C5F0-0934-1D06-0F01-225B6A1D05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B90CE5-544A-E8FF-B552-9E49EC1282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7642C1-1C8E-6F8A-2F51-07F10AB646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151E61-37A9-45B9-CA36-06504E797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D85DF-51B9-4430-BFB1-00059058A661}" type="datetimeFigureOut">
              <a:rPr lang="en-SG" smtClean="0"/>
              <a:t>5/8/2024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8782B4-48DC-2F9C-695F-5FA64A4F7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0E8B06-55AB-3A87-DC5A-93B1EECAC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EA2E9-5361-4D64-913A-9AB8C715C19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68606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3AB15-A847-1184-DED9-15F385C91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91A154-1677-CA49-D375-A3E58DECE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D85DF-51B9-4430-BFB1-00059058A661}" type="datetimeFigureOut">
              <a:rPr lang="en-SG" smtClean="0"/>
              <a:t>5/8/2024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072701-4FAE-97BA-4336-59EB6CB60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799E7B-5C7D-D0A2-CB94-7649ED62E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EA2E9-5361-4D64-913A-9AB8C715C19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067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40D285-8AF7-6B7A-3477-487CD41C3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D85DF-51B9-4430-BFB1-00059058A661}" type="datetimeFigureOut">
              <a:rPr lang="en-SG" smtClean="0"/>
              <a:t>5/8/2024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9A2093-88AE-F75A-FCA9-3402AA883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A37204-11C7-FC05-2CA9-AF0C2C2B0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EA2E9-5361-4D64-913A-9AB8C715C19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291483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EBE7E-7FB1-0467-F164-DF129EC2A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F82606-7718-475E-0F85-5204B4FC50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C66243-AA62-EDEC-FA9E-A96239A320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D33366-54CA-30FE-6BF0-0D3AB276F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D85DF-51B9-4430-BFB1-00059058A661}" type="datetimeFigureOut">
              <a:rPr lang="en-SG" smtClean="0"/>
              <a:t>5/8/2024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EE5F8E-E693-46DF-DF62-035562661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C59FC2-BC5C-FBF0-DF4C-FBE1B8F83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EA2E9-5361-4D64-913A-9AB8C715C19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596453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D67AF-D741-2125-8F86-A34A61F68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3FE72A-D2EC-7186-83D9-9E8B81A68A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3AC495-70BF-2A37-0DBA-ED00978C57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E26555-D624-9AF5-902A-50572FB41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D85DF-51B9-4430-BFB1-00059058A661}" type="datetimeFigureOut">
              <a:rPr lang="en-SG" smtClean="0"/>
              <a:t>5/8/2024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05E545-1698-972F-9E63-3B6AE3083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7CB5C5-4F6B-9103-EB45-B78B1D742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EA2E9-5361-4D64-913A-9AB8C715C19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755652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684F1-E47F-6218-3FEB-17D21EF5D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C8B6A4-CAC7-F386-C243-2BF9E834F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71F4EC-D83D-7E72-1115-0010A74A1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D85DF-51B9-4430-BFB1-00059058A661}" type="datetimeFigureOut">
              <a:rPr lang="en-SG" smtClean="0"/>
              <a:t>5/8/2024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E01B27-4EFF-AEC0-0001-0BA1D31B8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F0293B-01C3-DA85-5246-E044273D1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EA2E9-5361-4D64-913A-9AB8C715C19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062747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BF1844-B6B1-90DE-7C5E-6B9CE65DF7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3AA860-3CF0-50CB-9620-A1EC2AA2F8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61D1D6-756E-30EE-A186-D1A1A8730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D85DF-51B9-4430-BFB1-00059058A661}" type="datetimeFigureOut">
              <a:rPr lang="en-SG" smtClean="0"/>
              <a:t>5/8/2024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F5323D-2A39-3A5D-C103-7A34F6875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298E91-0A3D-BAD5-6935-939E07E42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EA2E9-5361-4D64-913A-9AB8C715C19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645547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59983CA-8AAC-38CA-32F8-66C3224C9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0A1FA5-B30E-9A17-7B1E-B4C7AE096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D547F6-8AC8-DB76-7AC0-EE74F3B6F5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8D85DF-51B9-4430-BFB1-00059058A661}" type="datetimeFigureOut">
              <a:rPr lang="en-SG" smtClean="0"/>
              <a:t>5/8/2024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66FED4-3C79-4B34-D8E7-C871628C07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652413-0E40-7121-C534-CA4097A5BE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5EA2E9-5361-4D64-913A-9AB8C715C19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00813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C16AD-1ADD-1CA7-7486-6C6B934F705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SG" dirty="0"/>
              <a:t>Redo segmentation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91498C-04DF-7570-875E-018D012D6D7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157791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F3CC2A8-EA37-1D30-0A7A-9353B7941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Raw</a:t>
            </a:r>
          </a:p>
        </p:txBody>
      </p:sp>
      <p:pic>
        <p:nvPicPr>
          <p:cNvPr id="15" name="Content Placeholder 14" descr="A close-up of a thyroid gland&#10;&#10;Description automatically generated">
            <a:extLst>
              <a:ext uri="{FF2B5EF4-FFF2-40B4-BE49-F238E27FC236}">
                <a16:creationId xmlns:a16="http://schemas.microsoft.com/office/drawing/2014/main" id="{E8630761-A63E-0438-3472-45088DB219B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29926"/>
            <a:ext cx="5181600" cy="3942735"/>
          </a:xfrm>
          <a:prstGeom prst="rect">
            <a:avLst/>
          </a:prstGeom>
        </p:spPr>
      </p:pic>
      <p:pic>
        <p:nvPicPr>
          <p:cNvPr id="19" name="Content Placeholder 18" descr="A white circle on a black background&#10;&#10;Description automatically generated">
            <a:extLst>
              <a:ext uri="{FF2B5EF4-FFF2-40B4-BE49-F238E27FC236}">
                <a16:creationId xmlns:a16="http://schemas.microsoft.com/office/drawing/2014/main" id="{1B7E56A2-5E87-7C31-0752-79A26F25D9A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029926"/>
            <a:ext cx="5181600" cy="3942735"/>
          </a:xfrm>
        </p:spPr>
      </p:pic>
    </p:spTree>
    <p:extLst>
      <p:ext uri="{BB962C8B-B14F-4D97-AF65-F5344CB8AC3E}">
        <p14:creationId xmlns:p14="http://schemas.microsoft.com/office/powerpoint/2010/main" val="27888857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0AC54-A188-EA7E-761D-6F2C6A43B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SG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F4245B39-FD38-DA70-AD8F-35D21AB3297E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589"/>
          <a:stretch/>
        </p:blipFill>
        <p:spPr bwMode="auto">
          <a:xfrm>
            <a:off x="6747180" y="2565683"/>
            <a:ext cx="4031639" cy="2871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Content Placeholder 14" descr="A close-up of a thyroid gland&#10;&#10;Description automatically generated">
            <a:extLst>
              <a:ext uri="{FF2B5EF4-FFF2-40B4-BE49-F238E27FC236}">
                <a16:creationId xmlns:a16="http://schemas.microsoft.com/office/drawing/2014/main" id="{79C1066E-0629-E6CE-6921-BFDF5110C38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29926"/>
            <a:ext cx="5181600" cy="3942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439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844E4-1C79-C0D9-2064-26293F6FC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SG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1076BB6E-3FEA-40EB-8558-DC76C7EA1ACE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9511"/>
          <a:stretch/>
        </p:blipFill>
        <p:spPr bwMode="auto">
          <a:xfrm>
            <a:off x="6056812" y="2104127"/>
            <a:ext cx="5265321" cy="39396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34E383F0-7C7F-CC63-6E09-D6A0FEC1AFFA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589"/>
          <a:stretch/>
        </p:blipFill>
        <p:spPr bwMode="auto">
          <a:xfrm>
            <a:off x="976297" y="2387156"/>
            <a:ext cx="4914312" cy="3499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17268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B331C-4EA8-84F5-96E5-3697157D0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Re-segmented only  pass 2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C0FB343D-2854-2630-F3A8-3D8A40CA615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591" y="2565683"/>
            <a:ext cx="8686817" cy="2871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A799D1B-846A-7346-AD1F-A77A24801E5E}"/>
              </a:ext>
            </a:extLst>
          </p:cNvPr>
          <p:cNvSpPr txBox="1"/>
          <p:nvPr/>
        </p:nvSpPr>
        <p:spPr>
          <a:xfrm>
            <a:off x="717259" y="5889072"/>
            <a:ext cx="61745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Extract region of interest (ROI) from original mask ± 50 pixels</a:t>
            </a:r>
          </a:p>
          <a:p>
            <a:r>
              <a:rPr lang="en-SG" dirty="0"/>
              <a:t>Improved segmentation results by redoing fine segmentation</a:t>
            </a:r>
          </a:p>
        </p:txBody>
      </p:sp>
    </p:spTree>
    <p:extLst>
      <p:ext uri="{BB962C8B-B14F-4D97-AF65-F5344CB8AC3E}">
        <p14:creationId xmlns:p14="http://schemas.microsoft.com/office/powerpoint/2010/main" val="40992124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17C6F-B2CD-8C8F-0254-687AD32D0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Re-segmented pass 1 and pass 2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F4542EC-2DB7-6E07-CE9E-B5030BC69A1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591" y="2524535"/>
            <a:ext cx="8686817" cy="2953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54F2C1A-1B94-B8FA-8968-485AB4976978}"/>
              </a:ext>
            </a:extLst>
          </p:cNvPr>
          <p:cNvSpPr txBox="1"/>
          <p:nvPr/>
        </p:nvSpPr>
        <p:spPr>
          <a:xfrm>
            <a:off x="717259" y="5889072"/>
            <a:ext cx="73824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Extract region of interest (ROI) from first pass re-segmentation ± 50 pixels</a:t>
            </a:r>
          </a:p>
          <a:p>
            <a:r>
              <a:rPr lang="en-SG" dirty="0"/>
              <a:t>Improved ROI + segmentation results by redoing fine segmentation</a:t>
            </a:r>
          </a:p>
        </p:txBody>
      </p:sp>
    </p:spTree>
    <p:extLst>
      <p:ext uri="{BB962C8B-B14F-4D97-AF65-F5344CB8AC3E}">
        <p14:creationId xmlns:p14="http://schemas.microsoft.com/office/powerpoint/2010/main" val="37162009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61A8C-3668-C381-D15C-ECB4315B1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Re-segmented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6977B1-E3AB-C2EB-38BA-E8BCD0868E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Also corrects overshoot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AFAD1601-4034-6DC5-B16A-44AF9BCF66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1692" y="2703436"/>
            <a:ext cx="9144000" cy="2085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17833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DC949-E0E8-563E-0B18-C5E418817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However..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680629-DBDF-6726-657F-E3A035C444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Using the original mask as coarse segmentation sometimes misses part of the nodule</a:t>
            </a:r>
          </a:p>
          <a:p>
            <a:endParaRPr lang="en-SG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DD9AD4F5-2177-C18B-FA17-3BC5A733B0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2412" y="4733925"/>
            <a:ext cx="9144000" cy="2124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56B2D3B0-5C27-C061-B59A-91533F2DFA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0309" y="2671763"/>
            <a:ext cx="9144000" cy="2124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79886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54A83-6162-1A1B-D5E8-9467FE867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But…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B53BA7-AF6E-BC4D-298A-D13CE8EE5A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Using the two-pass segmentation sometimes overshoots nodule</a:t>
            </a:r>
          </a:p>
        </p:txBody>
      </p:sp>
      <p:pic>
        <p:nvPicPr>
          <p:cNvPr id="3078" name="Picture 6">
            <a:extLst>
              <a:ext uri="{FF2B5EF4-FFF2-40B4-BE49-F238E27FC236}">
                <a16:creationId xmlns:a16="http://schemas.microsoft.com/office/drawing/2014/main" id="{A35C093D-EA61-B583-66D7-F77A6742E6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3387" y="2604962"/>
            <a:ext cx="9144000" cy="2266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08332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18205-87A7-F31E-C515-36BEE18B8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And…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C4C92E-713F-F734-371B-8B4D0169F1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Sometimes a mix of both</a:t>
            </a:r>
          </a:p>
        </p:txBody>
      </p:sp>
      <p:pic>
        <p:nvPicPr>
          <p:cNvPr id="5126" name="Picture 6">
            <a:extLst>
              <a:ext uri="{FF2B5EF4-FFF2-40B4-BE49-F238E27FC236}">
                <a16:creationId xmlns:a16="http://schemas.microsoft.com/office/drawing/2014/main" id="{C53B04D0-ED87-7180-A19F-02670D2FD4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9101" y="2527383"/>
            <a:ext cx="9144000" cy="2152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09895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A35BD-BAF2-F26C-89BF-2E2A75C93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Also…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1CAA88-E9DD-6566-9B30-D91D087CE9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214811"/>
            <a:ext cx="10515600" cy="1962151"/>
          </a:xfrm>
        </p:spPr>
        <p:txBody>
          <a:bodyPr/>
          <a:lstStyle/>
          <a:p>
            <a:r>
              <a:rPr lang="en-SG" dirty="0"/>
              <a:t>And miscellaneous problems</a:t>
            </a:r>
          </a:p>
        </p:txBody>
      </p:sp>
      <p:pic>
        <p:nvPicPr>
          <p:cNvPr id="3080" name="Picture 8">
            <a:extLst>
              <a:ext uri="{FF2B5EF4-FFF2-40B4-BE49-F238E27FC236}">
                <a16:creationId xmlns:a16="http://schemas.microsoft.com/office/drawing/2014/main" id="{5A5FD6C9-F5C9-44F2-B8F2-B0DE1D7A6E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7468" y="2211370"/>
            <a:ext cx="9144000" cy="1962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6" name="Picture 2">
            <a:extLst>
              <a:ext uri="{FF2B5EF4-FFF2-40B4-BE49-F238E27FC236}">
                <a16:creationId xmlns:a16="http://schemas.microsoft.com/office/drawing/2014/main" id="{D296B393-00DF-7D32-339A-275F44887B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7468" y="4761667"/>
            <a:ext cx="9144000" cy="2114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1274927-F965-C453-19F4-5CE26FCB3698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/>
              <a:t>None of them recognise other issues (e.g. no actual nodule)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7422051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</TotalTime>
  <Words>156</Words>
  <Application>Microsoft Office PowerPoint</Application>
  <PresentationFormat>Widescreen</PresentationFormat>
  <Paragraphs>29</Paragraphs>
  <Slides>11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Redo segmentation</vt:lpstr>
      <vt:lpstr>Raw</vt:lpstr>
      <vt:lpstr>PowerPoint Presentation</vt:lpstr>
      <vt:lpstr>PowerPoint Presentation</vt:lpstr>
      <vt:lpstr>Re-segmented only  pass 2</vt:lpstr>
      <vt:lpstr>Re-segmented pass 1 and pass 2</vt:lpstr>
      <vt:lpstr>Re-segmented</vt:lpstr>
      <vt:lpstr>However..</vt:lpstr>
      <vt:lpstr>But…</vt:lpstr>
      <vt:lpstr>And…</vt:lpstr>
      <vt:lpstr>Also…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Shannon, Nicholas Brian</dc:creator>
  <cp:lastModifiedBy>Shannon, Nicholas Brian</cp:lastModifiedBy>
  <cp:revision>3</cp:revision>
  <dcterms:created xsi:type="dcterms:W3CDTF">2024-08-05T06:10:56Z</dcterms:created>
  <dcterms:modified xsi:type="dcterms:W3CDTF">2024-08-05T09:35:30Z</dcterms:modified>
</cp:coreProperties>
</file>